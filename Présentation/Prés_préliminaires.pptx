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embeddedFontLst>
    <p:embeddedFont>
      <p:font typeface="Alexandria SemiBold" panose="020B0604020202020204" charset="-78"/>
      <p:regular r:id="rId13"/>
    </p:embeddedFont>
    <p:embeddedFont>
      <p:font typeface="Sora Light" panose="020B0604020202020204" charset="0"/>
      <p:regular r:id="rId14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1989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A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A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A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A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A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A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A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A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AFA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10" Type="http://schemas.openxmlformats.org/officeDocument/2006/relationships/image" Target="../media/image30.svg"/><Relationship Id="rId4" Type="http://schemas.openxmlformats.org/officeDocument/2006/relationships/image" Target="../media/image24.svg"/><Relationship Id="rId9" Type="http://schemas.openxmlformats.org/officeDocument/2006/relationships/image" Target="../media/image2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02943" y="458837"/>
            <a:ext cx="4020666" cy="445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SmartCampus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3902943" y="1107356"/>
            <a:ext cx="4767114" cy="18442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85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Plateforme de gestion académique</a:t>
            </a:r>
            <a:endParaRPr lang="en-US" sz="3850" dirty="0"/>
          </a:p>
        </p:txBody>
      </p:sp>
      <p:sp>
        <p:nvSpPr>
          <p:cNvPr id="5" name="Text 2"/>
          <p:cNvSpPr/>
          <p:nvPr/>
        </p:nvSpPr>
        <p:spPr>
          <a:xfrm>
            <a:off x="3902943" y="3154635"/>
            <a:ext cx="4767114" cy="802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150"/>
              </a:spcAft>
              <a:buNone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Projet Web Dynamique · 2026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Membres :</a:t>
            </a: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[Nom 1, Nom 2, Nom 3]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Classe :</a:t>
            </a: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[Classe] · </a:t>
            </a:r>
            <a:r>
              <a:rPr lang="en-US" sz="105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Date :</a:t>
            </a: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[Date]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902943" y="4109368"/>
            <a:ext cx="4767114" cy="575295"/>
          </a:xfrm>
          <a:prstGeom prst="roundRect">
            <a:avLst>
              <a:gd name="adj" fmla="val 9886"/>
            </a:avLst>
          </a:prstGeom>
          <a:solidFill>
            <a:srgbClr val="C0CAF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8302" y="4312444"/>
            <a:ext cx="169218" cy="13535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342879" y="4278511"/>
            <a:ext cx="4649019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📌 Espace réservé : insérer le logo de l'université ici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3741" y="337691"/>
            <a:ext cx="595759" cy="184100"/>
          </a:xfrm>
          <a:prstGeom prst="roundRect">
            <a:avLst>
              <a:gd name="adj" fmla="val 18536"/>
            </a:avLst>
          </a:prstGeom>
          <a:noFill/>
          <a:ln w="4763">
            <a:solidFill>
              <a:srgbClr val="1A2D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949375" y="372889"/>
            <a:ext cx="921693" cy="1137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600" dirty="0">
                <a:solidFill>
                  <a:srgbClr val="1A2D7A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SOMMAIRE</a:t>
            </a:r>
            <a:endParaRPr lang="en-US" sz="600" dirty="0"/>
          </a:p>
        </p:txBody>
      </p:sp>
      <p:sp>
        <p:nvSpPr>
          <p:cNvPr id="4" name="Text 2"/>
          <p:cNvSpPr/>
          <p:nvPr/>
        </p:nvSpPr>
        <p:spPr>
          <a:xfrm>
            <a:off x="883741" y="552227"/>
            <a:ext cx="3129781" cy="3341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Sommaire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83741" y="1000571"/>
            <a:ext cx="7833643" cy="142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Une vue d’ensemble claire et moderne des huit grandes sections du projet SmartCampus.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83741" y="1228427"/>
            <a:ext cx="3650159" cy="304651"/>
          </a:xfrm>
          <a:prstGeom prst="roundRect">
            <a:avLst>
              <a:gd name="adj" fmla="val 480047"/>
            </a:avLst>
          </a:prstGeom>
          <a:solidFill>
            <a:srgbClr val="D5DCF6"/>
          </a:solidFill>
          <a:ln w="4763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32621" y="1304553"/>
            <a:ext cx="152326" cy="15232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85242" y="1609204"/>
            <a:ext cx="1529283" cy="16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Présentation du projet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985242" y="1821954"/>
            <a:ext cx="3447157" cy="142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Contexte, vision et périmètre de SmartCampus.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4610026" y="1228427"/>
            <a:ext cx="3650159" cy="304651"/>
          </a:xfrm>
          <a:prstGeom prst="roundRect">
            <a:avLst>
              <a:gd name="adj" fmla="val 480047"/>
            </a:avLst>
          </a:prstGeom>
          <a:solidFill>
            <a:srgbClr val="D5DCF6"/>
          </a:solidFill>
          <a:ln w="4763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8905" y="1304553"/>
            <a:ext cx="152326" cy="15232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11526" y="1609204"/>
            <a:ext cx="1336253" cy="16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Objectifs du projet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711526" y="1821954"/>
            <a:ext cx="3447157" cy="142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Les résultats attendus et la valeur apportée.</a:t>
            </a:r>
            <a:endParaRPr lang="en-US" sz="750" dirty="0"/>
          </a:p>
        </p:txBody>
      </p:sp>
      <p:sp>
        <p:nvSpPr>
          <p:cNvPr id="14" name="Shape 10"/>
          <p:cNvSpPr/>
          <p:nvPr/>
        </p:nvSpPr>
        <p:spPr>
          <a:xfrm>
            <a:off x="883741" y="2141786"/>
            <a:ext cx="3650159" cy="304651"/>
          </a:xfrm>
          <a:prstGeom prst="roundRect">
            <a:avLst>
              <a:gd name="adj" fmla="val 480047"/>
            </a:avLst>
          </a:prstGeom>
          <a:solidFill>
            <a:srgbClr val="D5DCF6"/>
          </a:solidFill>
          <a:ln w="4763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32621" y="2217911"/>
            <a:ext cx="152326" cy="15232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5242" y="2522562"/>
            <a:ext cx="1336253" cy="16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Rôles utilisateurs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985242" y="2735312"/>
            <a:ext cx="3447157" cy="142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Les profils concernés et leurs responsabilités.</a:t>
            </a:r>
            <a:endParaRPr lang="en-US" sz="750" dirty="0"/>
          </a:p>
        </p:txBody>
      </p:sp>
      <p:sp>
        <p:nvSpPr>
          <p:cNvPr id="18" name="Shape 13"/>
          <p:cNvSpPr/>
          <p:nvPr/>
        </p:nvSpPr>
        <p:spPr>
          <a:xfrm>
            <a:off x="4610026" y="2141786"/>
            <a:ext cx="3650159" cy="304651"/>
          </a:xfrm>
          <a:prstGeom prst="roundRect">
            <a:avLst>
              <a:gd name="adj" fmla="val 480047"/>
            </a:avLst>
          </a:prstGeom>
          <a:solidFill>
            <a:srgbClr val="D5DCF6"/>
          </a:solidFill>
          <a:ln w="4763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8905" y="2217911"/>
            <a:ext cx="152326" cy="15232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711526" y="2522562"/>
            <a:ext cx="1841599" cy="16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Fonctionnalités principales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4711526" y="2735312"/>
            <a:ext cx="3447157" cy="142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Les fonctions clés de la plateforme.</a:t>
            </a:r>
            <a:endParaRPr lang="en-US" sz="750" dirty="0"/>
          </a:p>
        </p:txBody>
      </p:sp>
      <p:sp>
        <p:nvSpPr>
          <p:cNvPr id="22" name="Shape 16"/>
          <p:cNvSpPr/>
          <p:nvPr/>
        </p:nvSpPr>
        <p:spPr>
          <a:xfrm>
            <a:off x="883741" y="3055144"/>
            <a:ext cx="3650159" cy="304651"/>
          </a:xfrm>
          <a:prstGeom prst="roundRect">
            <a:avLst>
              <a:gd name="adj" fmla="val 480047"/>
            </a:avLst>
          </a:prstGeom>
          <a:solidFill>
            <a:srgbClr val="D5DCF6"/>
          </a:solidFill>
          <a:ln w="4763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32621" y="3131269"/>
            <a:ext cx="152326" cy="15232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85242" y="3435921"/>
            <a:ext cx="1336253" cy="16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Wireframes</a:t>
            </a:r>
            <a:endParaRPr lang="en-US" sz="1050" dirty="0"/>
          </a:p>
        </p:txBody>
      </p:sp>
      <p:sp>
        <p:nvSpPr>
          <p:cNvPr id="25" name="Text 18"/>
          <p:cNvSpPr/>
          <p:nvPr/>
        </p:nvSpPr>
        <p:spPr>
          <a:xfrm>
            <a:off x="985242" y="3648670"/>
            <a:ext cx="3447157" cy="142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Premières vues des écrans essentiels.</a:t>
            </a:r>
            <a:endParaRPr lang="en-US" sz="750" dirty="0"/>
          </a:p>
        </p:txBody>
      </p:sp>
      <p:sp>
        <p:nvSpPr>
          <p:cNvPr id="26" name="Shape 19"/>
          <p:cNvSpPr/>
          <p:nvPr/>
        </p:nvSpPr>
        <p:spPr>
          <a:xfrm>
            <a:off x="4610026" y="3055144"/>
            <a:ext cx="3650159" cy="304651"/>
          </a:xfrm>
          <a:prstGeom prst="roundRect">
            <a:avLst>
              <a:gd name="adj" fmla="val 480047"/>
            </a:avLst>
          </a:prstGeom>
          <a:solidFill>
            <a:srgbClr val="D5DCF6"/>
          </a:solidFill>
          <a:ln w="4763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8905" y="3131269"/>
            <a:ext cx="152326" cy="15232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4711526" y="3435921"/>
            <a:ext cx="1492448" cy="16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Storyboard utilisateur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4711526" y="3648670"/>
            <a:ext cx="3447157" cy="142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Le parcours type d’utilisation de la solution.</a:t>
            </a:r>
            <a:endParaRPr lang="en-US" sz="750" dirty="0"/>
          </a:p>
        </p:txBody>
      </p:sp>
      <p:sp>
        <p:nvSpPr>
          <p:cNvPr id="30" name="Shape 22"/>
          <p:cNvSpPr/>
          <p:nvPr/>
        </p:nvSpPr>
        <p:spPr>
          <a:xfrm>
            <a:off x="883741" y="3968502"/>
            <a:ext cx="3650159" cy="304651"/>
          </a:xfrm>
          <a:prstGeom prst="roundRect">
            <a:avLst>
              <a:gd name="adj" fmla="val 480047"/>
            </a:avLst>
          </a:prstGeom>
          <a:solidFill>
            <a:srgbClr val="D5DCF6"/>
          </a:solidFill>
          <a:ln w="4763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32621" y="4044628"/>
            <a:ext cx="152326" cy="152326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985242" y="4349279"/>
            <a:ext cx="1394147" cy="16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Modèles de données</a:t>
            </a:r>
            <a:endParaRPr lang="en-US" sz="1050" dirty="0"/>
          </a:p>
        </p:txBody>
      </p:sp>
      <p:sp>
        <p:nvSpPr>
          <p:cNvPr id="33" name="Text 24"/>
          <p:cNvSpPr/>
          <p:nvPr/>
        </p:nvSpPr>
        <p:spPr>
          <a:xfrm>
            <a:off x="985242" y="4562029"/>
            <a:ext cx="3447157" cy="142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Le modèle entité-association et le modèle relationnel.</a:t>
            </a:r>
            <a:endParaRPr lang="en-US" sz="750" dirty="0"/>
          </a:p>
        </p:txBody>
      </p:sp>
      <p:sp>
        <p:nvSpPr>
          <p:cNvPr id="34" name="Shape 25"/>
          <p:cNvSpPr/>
          <p:nvPr/>
        </p:nvSpPr>
        <p:spPr>
          <a:xfrm>
            <a:off x="4610026" y="3968502"/>
            <a:ext cx="3650159" cy="304651"/>
          </a:xfrm>
          <a:prstGeom prst="roundRect">
            <a:avLst>
              <a:gd name="adj" fmla="val 480047"/>
            </a:avLst>
          </a:prstGeom>
          <a:solidFill>
            <a:srgbClr val="D5DCF6"/>
          </a:solidFill>
          <a:ln w="4763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58905" y="4044628"/>
            <a:ext cx="152326" cy="152326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4711526" y="4349279"/>
            <a:ext cx="1906935" cy="16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Architecture &amp; Technologies</a:t>
            </a:r>
            <a:endParaRPr lang="en-US" sz="1050" dirty="0"/>
          </a:p>
        </p:txBody>
      </p:sp>
      <p:sp>
        <p:nvSpPr>
          <p:cNvPr id="37" name="Text 27"/>
          <p:cNvSpPr/>
          <p:nvPr/>
        </p:nvSpPr>
        <p:spPr>
          <a:xfrm>
            <a:off x="4711526" y="4562029"/>
            <a:ext cx="3447157" cy="142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Structure technique, outils et choix d’implémentation.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6885" y="365224"/>
            <a:ext cx="4217789" cy="4106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Présentation du projet</a:t>
            </a:r>
            <a:endParaRPr lang="en-US" sz="25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85" y="1370409"/>
            <a:ext cx="5269037" cy="298571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015186" y="1063451"/>
            <a:ext cx="2099742" cy="205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Contexte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6015186" y="1383729"/>
            <a:ext cx="2696617" cy="13433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Les universités font face à une fragmentation des outils de gestion académique. SmartCampus vise à </a:t>
            </a:r>
            <a:r>
              <a:rPr lang="en-US" sz="95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centraliser</a:t>
            </a:r>
            <a:r>
              <a:rPr lang="en-US" sz="9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l'ensemble des processus — inscriptions, cours, notes, emplois du temps — dans une plateforme unique et cohérente.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6015186" y="2842171"/>
            <a:ext cx="2099742" cy="205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Utilisateurs ciblés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015186" y="3162449"/>
            <a:ext cx="2696617" cy="6562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8000"/>
              </a:lnSpc>
              <a:buSzPct val="100000"/>
              <a:buChar char="•"/>
            </a:pPr>
            <a:r>
              <a:rPr lang="en-US" sz="9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Étudiants</a:t>
            </a:r>
            <a:endParaRPr lang="en-US" sz="950" dirty="0"/>
          </a:p>
          <a:p>
            <a:pPr marL="342900" indent="-342900" algn="l">
              <a:lnSpc>
                <a:spcPct val="128000"/>
              </a:lnSpc>
              <a:buSzPct val="100000"/>
              <a:buChar char="•"/>
            </a:pPr>
            <a:r>
              <a:rPr lang="en-US" sz="9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Enseignants</a:t>
            </a:r>
            <a:endParaRPr lang="en-US" sz="950" dirty="0"/>
          </a:p>
          <a:p>
            <a:pPr marL="342900" indent="-342900" algn="l">
              <a:lnSpc>
                <a:spcPct val="128000"/>
              </a:lnSpc>
              <a:buSzPct val="100000"/>
              <a:buChar char="•"/>
            </a:pPr>
            <a:r>
              <a:rPr lang="en-US" sz="9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Administrateurs universitaires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015186" y="3948112"/>
            <a:ext cx="2696617" cy="700683"/>
          </a:xfrm>
          <a:prstGeom prst="roundRect">
            <a:avLst>
              <a:gd name="adj" fmla="val 7483"/>
            </a:avLst>
          </a:prstGeom>
          <a:solidFill>
            <a:srgbClr val="C0CAF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9979" y="4128195"/>
            <a:ext cx="155972" cy="1247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20743" y="4094336"/>
            <a:ext cx="2166268" cy="38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📌 Insérer illustration SmartCampus ici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9444" y="362769"/>
            <a:ext cx="3686621" cy="403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0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Objectifs du projet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29444" y="988888"/>
            <a:ext cx="4086969" cy="1189806"/>
          </a:xfrm>
          <a:prstGeom prst="roundRect">
            <a:avLst>
              <a:gd name="adj" fmla="val 4332"/>
            </a:avLst>
          </a:prstGeom>
          <a:solidFill>
            <a:srgbClr val="D5DCF6"/>
          </a:solidFill>
          <a:ln w="4763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556915" y="1116360"/>
            <a:ext cx="368126" cy="368126"/>
          </a:xfrm>
          <a:prstGeom prst="roundRect">
            <a:avLst>
              <a:gd name="adj" fmla="val 15523023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118" y="1217563"/>
            <a:ext cx="165646" cy="16564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56915" y="1595661"/>
            <a:ext cx="1784226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Gestion des étudiants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56915" y="1864147"/>
            <a:ext cx="3832027" cy="187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Profils, parcours et inscriptions centralisés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627587" y="988888"/>
            <a:ext cx="4086969" cy="1189806"/>
          </a:xfrm>
          <a:prstGeom prst="roundRect">
            <a:avLst>
              <a:gd name="adj" fmla="val 4332"/>
            </a:avLst>
          </a:prstGeom>
          <a:solidFill>
            <a:srgbClr val="D5DCF6"/>
          </a:solidFill>
          <a:ln w="4763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4755059" y="1116360"/>
            <a:ext cx="368126" cy="368126"/>
          </a:xfrm>
          <a:prstGeom prst="roundRect">
            <a:avLst>
              <a:gd name="adj" fmla="val 15523023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6262" y="1217563"/>
            <a:ext cx="165646" cy="16564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55059" y="1595661"/>
            <a:ext cx="1995636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Gestion des enseignants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755059" y="1864147"/>
            <a:ext cx="3832027" cy="187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Attribution des cours et suivi des activités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29444" y="2289870"/>
            <a:ext cx="4086969" cy="1189806"/>
          </a:xfrm>
          <a:prstGeom prst="roundRect">
            <a:avLst>
              <a:gd name="adj" fmla="val 4332"/>
            </a:avLst>
          </a:prstGeom>
          <a:solidFill>
            <a:srgbClr val="D5DCF6"/>
          </a:solidFill>
          <a:ln w="4763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556915" y="2417341"/>
            <a:ext cx="368126" cy="368126"/>
          </a:xfrm>
          <a:prstGeom prst="roundRect">
            <a:avLst>
              <a:gd name="adj" fmla="val 15523023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8118" y="2518544"/>
            <a:ext cx="165646" cy="16564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56915" y="2896642"/>
            <a:ext cx="1614711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Gestion des cours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56915" y="3165128"/>
            <a:ext cx="3832027" cy="187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Création, édition et organisation des unités d'enseignement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4627587" y="2289870"/>
            <a:ext cx="4086969" cy="1189806"/>
          </a:xfrm>
          <a:prstGeom prst="roundRect">
            <a:avLst>
              <a:gd name="adj" fmla="val 4332"/>
            </a:avLst>
          </a:prstGeom>
          <a:solidFill>
            <a:srgbClr val="D5DCF6"/>
          </a:solidFill>
          <a:ln w="4763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4"/>
          <p:cNvSpPr/>
          <p:nvPr/>
        </p:nvSpPr>
        <p:spPr>
          <a:xfrm>
            <a:off x="4755059" y="2417341"/>
            <a:ext cx="368126" cy="368126"/>
          </a:xfrm>
          <a:prstGeom prst="roundRect">
            <a:avLst>
              <a:gd name="adj" fmla="val 15523023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56262" y="2518544"/>
            <a:ext cx="165646" cy="16564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755059" y="2896642"/>
            <a:ext cx="1614711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Gestion des notes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4755059" y="3165128"/>
            <a:ext cx="3832027" cy="187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Saisie, consultation et publication des résultats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29444" y="3590851"/>
            <a:ext cx="4086969" cy="1189806"/>
          </a:xfrm>
          <a:prstGeom prst="roundRect">
            <a:avLst>
              <a:gd name="adj" fmla="val 4332"/>
            </a:avLst>
          </a:prstGeom>
          <a:solidFill>
            <a:srgbClr val="D5DCF6"/>
          </a:solidFill>
          <a:ln w="4763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18"/>
          <p:cNvSpPr/>
          <p:nvPr/>
        </p:nvSpPr>
        <p:spPr>
          <a:xfrm>
            <a:off x="556915" y="3718322"/>
            <a:ext cx="368126" cy="368126"/>
          </a:xfrm>
          <a:prstGeom prst="roundRect">
            <a:avLst>
              <a:gd name="adj" fmla="val 15523023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118" y="3819525"/>
            <a:ext cx="165646" cy="16564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56915" y="4197623"/>
            <a:ext cx="1614711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Emploi du temps</a:t>
            </a:r>
            <a:endParaRPr lang="en-US" sz="1250" dirty="0"/>
          </a:p>
        </p:txBody>
      </p:sp>
      <p:sp>
        <p:nvSpPr>
          <p:cNvPr id="27" name="Text 20"/>
          <p:cNvSpPr/>
          <p:nvPr/>
        </p:nvSpPr>
        <p:spPr>
          <a:xfrm>
            <a:off x="556915" y="4466109"/>
            <a:ext cx="3832027" cy="187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Planification visuelle et gestion des plannings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4627587" y="3590851"/>
            <a:ext cx="4086969" cy="1189806"/>
          </a:xfrm>
          <a:prstGeom prst="roundRect">
            <a:avLst>
              <a:gd name="adj" fmla="val 4332"/>
            </a:avLst>
          </a:prstGeom>
          <a:solidFill>
            <a:srgbClr val="D5DCF6"/>
          </a:solidFill>
          <a:ln w="4763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2"/>
          <p:cNvSpPr/>
          <p:nvPr/>
        </p:nvSpPr>
        <p:spPr>
          <a:xfrm>
            <a:off x="4755059" y="3718322"/>
            <a:ext cx="368126" cy="368126"/>
          </a:xfrm>
          <a:prstGeom prst="roundRect">
            <a:avLst>
              <a:gd name="adj" fmla="val 15523023"/>
            </a:avLst>
          </a:prstGeom>
          <a:solidFill>
            <a:srgbClr val="1A2D7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56262" y="3819525"/>
            <a:ext cx="165646" cy="16564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4755059" y="4197623"/>
            <a:ext cx="1851199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Espace administrateur</a:t>
            </a:r>
            <a:endParaRPr lang="en-US" sz="1250" dirty="0"/>
          </a:p>
        </p:txBody>
      </p:sp>
      <p:sp>
        <p:nvSpPr>
          <p:cNvPr id="32" name="Text 24"/>
          <p:cNvSpPr/>
          <p:nvPr/>
        </p:nvSpPr>
        <p:spPr>
          <a:xfrm>
            <a:off x="4755059" y="4466109"/>
            <a:ext cx="3832027" cy="187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Supervision globale, gestion des comptes et des droits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943" y="874737"/>
            <a:ext cx="4020666" cy="445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Rôles utilisateurs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73943" y="1590973"/>
            <a:ext cx="2641774" cy="2677716"/>
          </a:xfrm>
          <a:prstGeom prst="roundRect">
            <a:avLst>
              <a:gd name="adj" fmla="val 2153"/>
            </a:avLst>
          </a:prstGeom>
          <a:solidFill>
            <a:srgbClr val="FFFAFA"/>
          </a:solidFill>
          <a:ln w="1905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492993" y="1610023"/>
            <a:ext cx="2603674" cy="406226"/>
          </a:xfrm>
          <a:prstGeom prst="roundRect">
            <a:avLst>
              <a:gd name="adj" fmla="val 8373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93292" y="1709142"/>
            <a:ext cx="203076" cy="2030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8352" y="2151608"/>
            <a:ext cx="178169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Étudiant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28352" y="2455441"/>
            <a:ext cx="2332955" cy="14421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S'inscrire aux cours disponibles</a:t>
            </a:r>
            <a:endParaRPr lang="en-US" sz="10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Consulter son emploi du temps</a:t>
            </a:r>
            <a:endParaRPr lang="en-US" sz="10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Accéder à ses notes et relevés</a:t>
            </a:r>
            <a:endParaRPr lang="en-US" sz="10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Gérer son profil personnel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251076" y="1590973"/>
            <a:ext cx="2641774" cy="2677716"/>
          </a:xfrm>
          <a:prstGeom prst="roundRect">
            <a:avLst>
              <a:gd name="adj" fmla="val 2153"/>
            </a:avLst>
          </a:prstGeom>
          <a:solidFill>
            <a:srgbClr val="FFFAFA"/>
          </a:solidFill>
          <a:ln w="1905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3270126" y="1610023"/>
            <a:ext cx="2603674" cy="406226"/>
          </a:xfrm>
          <a:prstGeom prst="roundRect">
            <a:avLst>
              <a:gd name="adj" fmla="val 8373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70425" y="1709142"/>
            <a:ext cx="203076" cy="2030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405485" y="2151608"/>
            <a:ext cx="178169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Enseignant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405485" y="2455441"/>
            <a:ext cx="2332955" cy="10087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Gérer ses cours et contenus</a:t>
            </a:r>
            <a:endParaRPr lang="en-US" sz="10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Saisir et publier les notes</a:t>
            </a:r>
            <a:endParaRPr lang="en-US" sz="10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Consulter les listes d'étudiants</a:t>
            </a:r>
            <a:endParaRPr lang="en-US" sz="10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Suivre les présences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028209" y="1590973"/>
            <a:ext cx="2641848" cy="2677716"/>
          </a:xfrm>
          <a:prstGeom prst="roundRect">
            <a:avLst>
              <a:gd name="adj" fmla="val 2153"/>
            </a:avLst>
          </a:prstGeom>
          <a:solidFill>
            <a:srgbClr val="FFFAFA"/>
          </a:solidFill>
          <a:ln w="1905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6047259" y="1610023"/>
            <a:ext cx="2603748" cy="406226"/>
          </a:xfrm>
          <a:prstGeom prst="roundRect">
            <a:avLst>
              <a:gd name="adj" fmla="val 8373"/>
            </a:avLst>
          </a:prstGeom>
          <a:solidFill>
            <a:srgbClr val="D5DCF6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47558" y="1709142"/>
            <a:ext cx="203076" cy="2030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182618" y="2151608"/>
            <a:ext cx="178169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Administrateur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182618" y="2455441"/>
            <a:ext cx="2333030" cy="1658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Créer et gérer les comptes utilisateurs</a:t>
            </a:r>
            <a:endParaRPr lang="en-US" sz="10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Attribuer les rôles et permissions</a:t>
            </a:r>
            <a:endParaRPr lang="en-US" sz="10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Superviser l'ensemble de la plateforme</a:t>
            </a:r>
            <a:endParaRPr lang="en-US" sz="10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Générer des rapports globaux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4635" y="359941"/>
            <a:ext cx="4755952" cy="3897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5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Fonctionnalités principales</a:t>
            </a:r>
            <a:endParaRPr lang="en-US" sz="2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4635" y="956965"/>
            <a:ext cx="236934" cy="23693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4635" y="1323454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Authentification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4635" y="1580406"/>
            <a:ext cx="4092550" cy="17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Connexion sécurisée avec gestion des rôles</a:t>
            </a:r>
            <a:endParaRPr lang="en-US" sz="9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6740" y="956965"/>
            <a:ext cx="236934" cy="23693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36740" y="1323454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Gestion étudiants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636740" y="1580406"/>
            <a:ext cx="4092625" cy="17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Inscriptions, profils et parcours académiques</a:t>
            </a:r>
            <a:endParaRPr lang="en-US" sz="9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4635" y="1965424"/>
            <a:ext cx="236934" cy="23693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14635" y="2331913"/>
            <a:ext cx="1607046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Gestion enseignants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414635" y="2588865"/>
            <a:ext cx="4092550" cy="17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Attribution des cours et suivi des activités</a:t>
            </a:r>
            <a:endParaRPr lang="en-US" sz="9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36740" y="1965424"/>
            <a:ext cx="236934" cy="23693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636740" y="2331913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Gestion cours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4636740" y="2588865"/>
            <a:ext cx="4092625" cy="17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Création, édition et organisation des UE</a:t>
            </a:r>
            <a:endParaRPr lang="en-US" sz="9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4635" y="2973884"/>
            <a:ext cx="236934" cy="23693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414635" y="3340373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Inscriptions</a:t>
            </a: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414635" y="3597325"/>
            <a:ext cx="4092550" cy="17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Processus d'inscription aux unités d'enseignement</a:t>
            </a:r>
            <a:endParaRPr lang="en-US" sz="9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36740" y="2973884"/>
            <a:ext cx="236934" cy="236934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4636740" y="3340373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Gestion des notes</a:t>
            </a: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4636740" y="3597325"/>
            <a:ext cx="4092625" cy="17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Saisie, consultation et publication des résultats</a:t>
            </a:r>
            <a:endParaRPr lang="en-US" sz="90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4635" y="3982343"/>
            <a:ext cx="236934" cy="236934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414635" y="4348832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Emploi du temps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414635" y="4605784"/>
            <a:ext cx="4092550" cy="17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Planification visuelle et gestion des plannings</a:t>
            </a:r>
            <a:endParaRPr lang="en-US" sz="9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6740" y="3982343"/>
            <a:ext cx="236934" cy="236934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4636740" y="4348832"/>
            <a:ext cx="1558975" cy="194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26" name="Text 16"/>
          <p:cNvSpPr/>
          <p:nvPr/>
        </p:nvSpPr>
        <p:spPr>
          <a:xfrm>
            <a:off x="4636740" y="4605784"/>
            <a:ext cx="4092625" cy="177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Vues personnalisées selon le profil utilisateur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943" y="482650"/>
            <a:ext cx="4607347" cy="445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Wireframes principaux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73943" y="1198885"/>
            <a:ext cx="8196114" cy="433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Maquettes basse fidélité des interfaces clés de la plateforme. Chaque écran est conçu pour refléter les besoins spécifiques du rôle utilisateur concerné.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73943" y="1784598"/>
            <a:ext cx="2641774" cy="1481733"/>
          </a:xfrm>
          <a:prstGeom prst="roundRect">
            <a:avLst>
              <a:gd name="adj" fmla="val 3838"/>
            </a:avLst>
          </a:prstGeom>
          <a:solidFill>
            <a:srgbClr val="FFFAFA"/>
          </a:solidFill>
          <a:ln w="1905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28352" y="1939007"/>
            <a:ext cx="1827088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Dashboard Étudiant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8352" y="2313980"/>
            <a:ext cx="2332955" cy="575295"/>
          </a:xfrm>
          <a:prstGeom prst="roundRect">
            <a:avLst>
              <a:gd name="adj" fmla="val 9886"/>
            </a:avLst>
          </a:prstGeom>
          <a:solidFill>
            <a:srgbClr val="C0CAF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12" y="2517056"/>
            <a:ext cx="169218" cy="13535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8288" y="2483123"/>
            <a:ext cx="1757660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📌 Insérer wireframe ici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51076" y="1784598"/>
            <a:ext cx="2641774" cy="1481733"/>
          </a:xfrm>
          <a:prstGeom prst="roundRect">
            <a:avLst>
              <a:gd name="adj" fmla="val 3838"/>
            </a:avLst>
          </a:prstGeom>
          <a:solidFill>
            <a:srgbClr val="FFFAFA"/>
          </a:solidFill>
          <a:ln w="1905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3405485" y="1939007"/>
            <a:ext cx="2060451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Dashboard Enseignant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405485" y="2313980"/>
            <a:ext cx="2332955" cy="575295"/>
          </a:xfrm>
          <a:prstGeom prst="roundRect">
            <a:avLst>
              <a:gd name="adj" fmla="val 9886"/>
            </a:avLst>
          </a:prstGeom>
          <a:solidFill>
            <a:srgbClr val="C0CAF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0844" y="2517056"/>
            <a:ext cx="169218" cy="13535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845421" y="2483123"/>
            <a:ext cx="1757660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📌 Insérer wireframe ici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28209" y="1784598"/>
            <a:ext cx="2641848" cy="1481733"/>
          </a:xfrm>
          <a:prstGeom prst="roundRect">
            <a:avLst>
              <a:gd name="adj" fmla="val 3838"/>
            </a:avLst>
          </a:prstGeom>
          <a:solidFill>
            <a:srgbClr val="FFFAFA"/>
          </a:solidFill>
          <a:ln w="1905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182618" y="1939007"/>
            <a:ext cx="2333030" cy="4452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Dashboard Administrateur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182618" y="2536627"/>
            <a:ext cx="2333030" cy="575295"/>
          </a:xfrm>
          <a:prstGeom prst="roundRect">
            <a:avLst>
              <a:gd name="adj" fmla="val 9886"/>
            </a:avLst>
          </a:prstGeom>
          <a:solidFill>
            <a:srgbClr val="C0CAF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977" y="2739703"/>
            <a:ext cx="169218" cy="13535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22554" y="2705770"/>
            <a:ext cx="1757735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📌 Insérer wireframe ici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73943" y="3401690"/>
            <a:ext cx="4030340" cy="1259086"/>
          </a:xfrm>
          <a:prstGeom prst="roundRect">
            <a:avLst>
              <a:gd name="adj" fmla="val 4517"/>
            </a:avLst>
          </a:prstGeom>
          <a:solidFill>
            <a:srgbClr val="FFFAFA"/>
          </a:solidFill>
          <a:ln w="1905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5"/>
          <p:cNvSpPr/>
          <p:nvPr/>
        </p:nvSpPr>
        <p:spPr>
          <a:xfrm>
            <a:off x="628352" y="3556099"/>
            <a:ext cx="178169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Page Cours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28352" y="3931072"/>
            <a:ext cx="3721522" cy="575295"/>
          </a:xfrm>
          <a:prstGeom prst="roundRect">
            <a:avLst>
              <a:gd name="adj" fmla="val 9886"/>
            </a:avLst>
          </a:prstGeom>
          <a:solidFill>
            <a:srgbClr val="C0CAF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12" y="4134148"/>
            <a:ext cx="169218" cy="13535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68288" y="4100215"/>
            <a:ext cx="3146227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📌 Insérer wireframe ici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639642" y="3401690"/>
            <a:ext cx="4030414" cy="1259086"/>
          </a:xfrm>
          <a:prstGeom prst="roundRect">
            <a:avLst>
              <a:gd name="adj" fmla="val 4517"/>
            </a:avLst>
          </a:prstGeom>
          <a:solidFill>
            <a:srgbClr val="FFFAFA"/>
          </a:solidFill>
          <a:ln w="19050">
            <a:solidFill>
              <a:srgbClr val="BBC2D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19"/>
          <p:cNvSpPr/>
          <p:nvPr/>
        </p:nvSpPr>
        <p:spPr>
          <a:xfrm>
            <a:off x="4794052" y="3556099"/>
            <a:ext cx="1781696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Page Notes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4794052" y="3931072"/>
            <a:ext cx="3721596" cy="575295"/>
          </a:xfrm>
          <a:prstGeom prst="roundRect">
            <a:avLst>
              <a:gd name="adj" fmla="val 9886"/>
            </a:avLst>
          </a:prstGeom>
          <a:solidFill>
            <a:srgbClr val="C0CAF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9411" y="4134148"/>
            <a:ext cx="169218" cy="13535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233988" y="4100215"/>
            <a:ext cx="3146301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📌 Insérer wireframe ici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9444" y="385539"/>
            <a:ext cx="4064794" cy="403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0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Storyboard utilisateur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29444" y="1056084"/>
            <a:ext cx="3992910" cy="561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Le storyboard décrit les </a:t>
            </a:r>
            <a:r>
              <a:rPr lang="en-US" sz="95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parcours utilisateurs typiques</a:t>
            </a:r>
            <a:r>
              <a:rPr lang="en-US" sz="9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au sein de SmartCampus, depuis la connexion jusqu'aux actions métier principales. Il permet de valider les flux avant le développement.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726409" y="1081088"/>
            <a:ext cx="3992910" cy="677391"/>
          </a:xfrm>
          <a:prstGeom prst="roundRect">
            <a:avLst>
              <a:gd name="adj" fmla="val 7609"/>
            </a:avLst>
          </a:prstGeom>
          <a:solidFill>
            <a:srgbClr val="C0CAF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9118" y="1260425"/>
            <a:ext cx="153367" cy="12270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125194" y="1222921"/>
            <a:ext cx="3471416" cy="3741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📌 Insérer storyboard complet ici — diagramme de flux ou maquettes séquentielles</a:t>
            </a:r>
            <a:endParaRPr lang="en-US" sz="9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5431" y="2012454"/>
            <a:ext cx="184026" cy="18402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8229" y="2008659"/>
            <a:ext cx="1681088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Connexion sécurisée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5431" y="2606799"/>
            <a:ext cx="184026" cy="18402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28229" y="2603004"/>
            <a:ext cx="2733229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Accès au dashboard personnalisé</a:t>
            </a:r>
            <a:endParaRPr lang="en-US" sz="12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5431" y="3201144"/>
            <a:ext cx="184026" cy="18402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28229" y="3197349"/>
            <a:ext cx="1770311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Inscription à un cours</a:t>
            </a:r>
            <a:endParaRPr lang="en-US" sz="12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5431" y="3795489"/>
            <a:ext cx="184026" cy="184026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828229" y="3791694"/>
            <a:ext cx="1880592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Consultation des notes</a:t>
            </a:r>
            <a:endParaRPr lang="en-US" sz="12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5431" y="4389834"/>
            <a:ext cx="184026" cy="18402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28229" y="4386039"/>
            <a:ext cx="2510358" cy="2018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Gestion des cours (enseignant)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3943" y="633264"/>
            <a:ext cx="4175894" cy="445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Modèles de données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73943" y="1417141"/>
            <a:ext cx="3434283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Modèle Entité-Association (MCD)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73943" y="1775147"/>
            <a:ext cx="3932858" cy="9885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950"/>
              </a:spcAft>
              <a:buNone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Le MCD représente la structure conceptuelle des données de SmartCampus. Il identifie les entités du domaine et leurs relations avant toute implémentation technique.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Entités principales :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73943" y="2885554"/>
            <a:ext cx="3932858" cy="744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Utilisateur · Étudiant · Enseignant</a:t>
            </a:r>
            <a:endParaRPr lang="en-US" sz="10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Cours · Inscription · Notes</a:t>
            </a:r>
            <a:endParaRPr lang="en-US" sz="10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EmploiDuTemps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73943" y="3782616"/>
            <a:ext cx="3932858" cy="575295"/>
          </a:xfrm>
          <a:prstGeom prst="roundRect">
            <a:avLst>
              <a:gd name="adj" fmla="val 9886"/>
            </a:avLst>
          </a:prstGeom>
          <a:solidFill>
            <a:srgbClr val="C0CAF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302" y="3985692"/>
            <a:ext cx="169218" cy="13535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3879" y="3951759"/>
            <a:ext cx="3814763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📌 Insérer MCD ici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741962" y="1417141"/>
            <a:ext cx="2785765" cy="2226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Modèle Relationnel (MLD)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741962" y="1775147"/>
            <a:ext cx="3932858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Le MLD traduit le MCD en schéma relationnel exploitable par une base de données MySQL, avec clés primaires, étrangères et cardinalités.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41962" y="2577554"/>
            <a:ext cx="3932858" cy="575295"/>
          </a:xfrm>
          <a:prstGeom prst="roundRect">
            <a:avLst>
              <a:gd name="adj" fmla="val 9886"/>
            </a:avLst>
          </a:prstGeom>
          <a:solidFill>
            <a:srgbClr val="C0CAF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321" y="2780630"/>
            <a:ext cx="169218" cy="13535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81898" y="2746697"/>
            <a:ext cx="3814763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📌 Insérer modèle relationnel ici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21606" y="285676"/>
            <a:ext cx="3715420" cy="285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Architecture &amp; Technologies</a:t>
            </a:r>
            <a:endParaRPr lang="en-US" sz="1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1606" y="682154"/>
            <a:ext cx="6300713" cy="288347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036894" y="1068039"/>
            <a:ext cx="1924242" cy="1834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Base de données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036894" y="1301012"/>
            <a:ext cx="1536247" cy="228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MySQL pour persistance et requêtes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113428" y="2015804"/>
            <a:ext cx="1412356" cy="1834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Backend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570628" y="2248777"/>
            <a:ext cx="1412356" cy="2286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85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API et logique métier en PHP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036894" y="2505173"/>
            <a:ext cx="1924242" cy="1834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Frontend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036894" y="2738146"/>
            <a:ext cx="1536247" cy="228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React, HTML, CSS, JS, Bootstrap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421606" y="3628132"/>
            <a:ext cx="6757913" cy="113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6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Architecture </a:t>
            </a:r>
            <a:r>
              <a:rPr lang="en-US" sz="65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3-tiers</a:t>
            </a:r>
            <a:r>
              <a:rPr lang="en-US" sz="6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: séparation claire entre présentation, logique métier et persistance des données.</a:t>
            </a:r>
            <a:endParaRPr lang="en-US" sz="650" dirty="0"/>
          </a:p>
        </p:txBody>
      </p:sp>
      <p:sp>
        <p:nvSpPr>
          <p:cNvPr id="11" name="Text 8"/>
          <p:cNvSpPr/>
          <p:nvPr/>
        </p:nvSpPr>
        <p:spPr>
          <a:xfrm>
            <a:off x="1421606" y="3860006"/>
            <a:ext cx="1880890" cy="142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Technologies envisagées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421606" y="4058171"/>
            <a:ext cx="3044503" cy="780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65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HTML / CSS / JS</a:t>
            </a:r>
            <a:r>
              <a:rPr lang="en-US" sz="6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— Structure et interactivité</a:t>
            </a:r>
            <a:endParaRPr lang="en-US" sz="65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65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React</a:t>
            </a:r>
            <a:r>
              <a:rPr lang="en-US" sz="6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— Interface dynamique et modulaire</a:t>
            </a:r>
            <a:endParaRPr lang="en-US" sz="65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65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Bootstrap</a:t>
            </a:r>
            <a:r>
              <a:rPr lang="en-US" sz="6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— Design responsive</a:t>
            </a:r>
            <a:endParaRPr lang="en-US" sz="65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65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PHP</a:t>
            </a:r>
            <a:r>
              <a:rPr lang="en-US" sz="6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— Backend et logique serveur</a:t>
            </a:r>
            <a:endParaRPr lang="en-US" sz="65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65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MySQL</a:t>
            </a:r>
            <a:r>
              <a:rPr lang="en-US" sz="6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— Base de données relationnelle</a:t>
            </a:r>
            <a:endParaRPr lang="en-US" sz="65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650" b="1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GitHub</a:t>
            </a:r>
            <a:r>
              <a:rPr lang="en-US" sz="6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 — Versioning et collaboration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4682505" y="3860006"/>
            <a:ext cx="1807369" cy="142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dirty="0">
                <a:solidFill>
                  <a:srgbClr val="1F1E1E"/>
                </a:solidFill>
                <a:latin typeface="Alexandria SemiBold" pitchFamily="34" charset="0"/>
                <a:ea typeface="Alexandria SemiBold" pitchFamily="34" charset="-122"/>
                <a:cs typeface="Alexandria SemiBold" pitchFamily="34" charset="-120"/>
              </a:rPr>
              <a:t>Contraintes techniques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682505" y="4058171"/>
            <a:ext cx="3044503" cy="646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6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Séparation frontend / backend</a:t>
            </a:r>
            <a:endParaRPr lang="en-US" sz="65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6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Sécurité minimale (validation, authentification)</a:t>
            </a:r>
            <a:endParaRPr lang="en-US" sz="65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6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Gestion des rôles et permissions</a:t>
            </a:r>
            <a:endParaRPr lang="en-US" sz="65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6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Validation des données entrantes</a:t>
            </a:r>
            <a:endParaRPr lang="en-US" sz="65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650" dirty="0">
                <a:solidFill>
                  <a:srgbClr val="3B3535"/>
                </a:solidFill>
                <a:latin typeface="Sora Light" pitchFamily="34" charset="0"/>
                <a:ea typeface="Sora Light" pitchFamily="34" charset="-122"/>
                <a:cs typeface="Sora Light" pitchFamily="34" charset="-120"/>
              </a:rPr>
              <a:t>Architecture maintenable et évolutive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703</Words>
  <Application>Microsoft Office PowerPoint</Application>
  <PresentationFormat>Affichage à l'écran (16:9)</PresentationFormat>
  <Paragraphs>141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Alexandria SemiBold</vt:lpstr>
      <vt:lpstr>Arial</vt:lpstr>
      <vt:lpstr>Sora Light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Tanguy Clément</dc:creator>
  <cp:lastModifiedBy>Tanguy Clément</cp:lastModifiedBy>
  <cp:revision>1</cp:revision>
  <dcterms:created xsi:type="dcterms:W3CDTF">2026-05-27T16:40:03Z</dcterms:created>
  <dcterms:modified xsi:type="dcterms:W3CDTF">2026-05-27T16:43:18Z</dcterms:modified>
</cp:coreProperties>
</file>