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exandria SemiBold" panose="020B0604020202020204" charset="-78"/>
      <p:regular r:id="rId14"/>
    </p:embeddedFont>
    <p:embeddedFont>
      <p:font typeface="Sora Light" panose="020B0604020202020204" charset="0"/>
      <p:regular r:id="rId15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4" y="4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6F5D5E6-E943-1F10-93C6-E402CDF6E0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F1244D-760F-9C43-7081-79E9140E10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0F42B-F5E7-4C81-9F26-D881D886DF54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82A174A-F605-56FC-6810-558C5143FD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157F51E-A92A-E935-A560-C163E4FD1C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6442C-E5A6-4B23-97D8-B1B17B39999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16085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9895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02943" y="458837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1107356"/>
            <a:ext cx="4767114" cy="1844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4000" dirty="0" err="1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SmartCampus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3902943" y="3673929"/>
            <a:ext cx="4767114" cy="283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Projet Web Dynamique · 2026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90256" y="4239221"/>
            <a:ext cx="5237389" cy="391886"/>
          </a:xfrm>
          <a:prstGeom prst="roundRect">
            <a:avLst>
              <a:gd name="adj" fmla="val 9886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8" name="Text 4"/>
          <p:cNvSpPr/>
          <p:nvPr/>
        </p:nvSpPr>
        <p:spPr>
          <a:xfrm>
            <a:off x="3833258" y="4326817"/>
            <a:ext cx="509438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/>
              <a:t>ING2 TD9 Gr11 : Henrique BORSARI Lucien DIETSCH Tanguy CLEMENT Alexandre PASQUALI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01B030-D38B-1D58-FE32-49F72B0AC76E}"/>
              </a:ext>
            </a:extLst>
          </p:cNvPr>
          <p:cNvSpPr/>
          <p:nvPr/>
        </p:nvSpPr>
        <p:spPr>
          <a:xfrm>
            <a:off x="7919527" y="4747532"/>
            <a:ext cx="1220391" cy="391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ACA4CD9-F445-70D7-D49E-A2268D7FCE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96"/>
          <a:stretch>
            <a:fillRect/>
          </a:stretch>
        </p:blipFill>
        <p:spPr>
          <a:xfrm>
            <a:off x="155122" y="592496"/>
            <a:ext cx="5028224" cy="37343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3741" y="337691"/>
            <a:ext cx="595759" cy="184100"/>
          </a:xfrm>
          <a:prstGeom prst="roundRect">
            <a:avLst>
              <a:gd name="adj" fmla="val 18536"/>
            </a:avLst>
          </a:prstGeom>
          <a:noFill/>
          <a:ln w="4763">
            <a:solidFill>
              <a:srgbClr val="1A2D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949375" y="372889"/>
            <a:ext cx="921693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60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SOMMAIRE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883741" y="552227"/>
            <a:ext cx="3129781" cy="334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Sommaire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83741" y="1000571"/>
            <a:ext cx="7833643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Une vue d’ensemble claire et moderne des huit grandes sections du projet SmartCampus.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83741" y="1228427"/>
            <a:ext cx="3650159" cy="304651"/>
          </a:xfrm>
          <a:prstGeom prst="roundRect">
            <a:avLst>
              <a:gd name="adj" fmla="val 48004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2621" y="1304553"/>
            <a:ext cx="152326" cy="1523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5242" y="1609204"/>
            <a:ext cx="152928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Présentation du projet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85242" y="1821954"/>
            <a:ext cx="344715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Contexte, vision et périmètre de SmartCampus.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610026" y="1228427"/>
            <a:ext cx="3650159" cy="304651"/>
          </a:xfrm>
          <a:prstGeom prst="roundRect">
            <a:avLst>
              <a:gd name="adj" fmla="val 48004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8905" y="1304553"/>
            <a:ext cx="152326" cy="1523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11526" y="1609204"/>
            <a:ext cx="133625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Objectifs du projet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11526" y="1821954"/>
            <a:ext cx="344715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Les résultats attendus et la valeur apportée.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883741" y="2141786"/>
            <a:ext cx="3650159" cy="304651"/>
          </a:xfrm>
          <a:prstGeom prst="roundRect">
            <a:avLst>
              <a:gd name="adj" fmla="val 48004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2621" y="2217911"/>
            <a:ext cx="152326" cy="1523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5242" y="2522562"/>
            <a:ext cx="133625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Rôles utilisateurs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985242" y="2735312"/>
            <a:ext cx="344715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Les profils concernés et leurs responsabilités.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4610026" y="2141786"/>
            <a:ext cx="3650159" cy="304651"/>
          </a:xfrm>
          <a:prstGeom prst="roundRect">
            <a:avLst>
              <a:gd name="adj" fmla="val 48004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8905" y="2217911"/>
            <a:ext cx="152326" cy="15232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11526" y="2522562"/>
            <a:ext cx="1841599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Fonctionnalités principales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711526" y="2735312"/>
            <a:ext cx="344715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Les fonctions clés de la plateforme.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883741" y="3055144"/>
            <a:ext cx="3650159" cy="304651"/>
          </a:xfrm>
          <a:prstGeom prst="roundRect">
            <a:avLst>
              <a:gd name="adj" fmla="val 48004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32621" y="3131269"/>
            <a:ext cx="152326" cy="1523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85242" y="3435921"/>
            <a:ext cx="133625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Wireframes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985242" y="3648670"/>
            <a:ext cx="344715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Premières vues des écrans essentiels.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4610026" y="3055144"/>
            <a:ext cx="3650159" cy="304651"/>
          </a:xfrm>
          <a:prstGeom prst="roundRect">
            <a:avLst>
              <a:gd name="adj" fmla="val 48004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8905" y="3131269"/>
            <a:ext cx="152326" cy="15232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711526" y="3435921"/>
            <a:ext cx="1492448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Storyboard utilisateur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4711526" y="3648670"/>
            <a:ext cx="344715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 parcours type d’utilisation de la solution.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883741" y="3968502"/>
            <a:ext cx="3650159" cy="304651"/>
          </a:xfrm>
          <a:prstGeom prst="roundRect">
            <a:avLst>
              <a:gd name="adj" fmla="val 48004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32621" y="4044628"/>
            <a:ext cx="152326" cy="15232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85242" y="4349279"/>
            <a:ext cx="1394147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Modèles de données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985242" y="4562029"/>
            <a:ext cx="344715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 modèle entité-association et le modèle relationnel.</a:t>
            </a:r>
            <a:endParaRPr lang="en-US" sz="750" dirty="0"/>
          </a:p>
        </p:txBody>
      </p:sp>
      <p:sp>
        <p:nvSpPr>
          <p:cNvPr id="34" name="Shape 25"/>
          <p:cNvSpPr/>
          <p:nvPr/>
        </p:nvSpPr>
        <p:spPr>
          <a:xfrm>
            <a:off x="4610026" y="3968502"/>
            <a:ext cx="3650159" cy="304651"/>
          </a:xfrm>
          <a:prstGeom prst="roundRect">
            <a:avLst>
              <a:gd name="adj" fmla="val 48004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8905" y="4044628"/>
            <a:ext cx="152326" cy="15232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711526" y="4349279"/>
            <a:ext cx="1906935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Architecture &amp; Technologies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4711526" y="4562029"/>
            <a:ext cx="344715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Structure technique, outils et choix d’implémentation.</a:t>
            </a:r>
            <a:endParaRPr lang="en-US" sz="7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80B9B6-C60A-1B9C-AFEC-1BBAF4FB35BB}"/>
              </a:ext>
            </a:extLst>
          </p:cNvPr>
          <p:cNvSpPr/>
          <p:nvPr/>
        </p:nvSpPr>
        <p:spPr>
          <a:xfrm>
            <a:off x="7915445" y="4743450"/>
            <a:ext cx="1220391" cy="391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885" y="365224"/>
            <a:ext cx="4217789" cy="41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Présentation du projet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5" y="1370409"/>
            <a:ext cx="5269037" cy="2985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5186" y="1063451"/>
            <a:ext cx="2099742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Contexte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15186" y="1383729"/>
            <a:ext cx="2696617" cy="1343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Les universités font face à une fragmentation des outils de gestion académique. SmartCampus vise à </a:t>
            </a:r>
            <a:r>
              <a:rPr lang="en-US" sz="9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centraliser</a:t>
            </a: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l'ensemble des processus — inscriptions, cours, notes, emplois du temps — dans une plateforme unique et cohérente.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015186" y="2842171"/>
            <a:ext cx="2099742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Utilisateurs ciblés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15186" y="3162449"/>
            <a:ext cx="2696617" cy="656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Étudiants</a:t>
            </a:r>
            <a:endParaRPr lang="en-US" sz="95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Enseignants</a:t>
            </a:r>
            <a:endParaRPr lang="en-US" sz="95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Administrateurs universitaires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015186" y="3948112"/>
            <a:ext cx="2696617" cy="700683"/>
          </a:xfrm>
          <a:prstGeom prst="roundRect">
            <a:avLst>
              <a:gd name="adj" fmla="val 7483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979" y="4128195"/>
            <a:ext cx="155972" cy="1247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20743" y="4094336"/>
            <a:ext cx="2166268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📌 Insérer illustration SmartCampus ici</a:t>
            </a:r>
            <a:endParaRPr lang="en-US" sz="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AA6DAE-41EA-2D5E-CF7E-1F9B707E1E6E}"/>
              </a:ext>
            </a:extLst>
          </p:cNvPr>
          <p:cNvSpPr/>
          <p:nvPr/>
        </p:nvSpPr>
        <p:spPr>
          <a:xfrm>
            <a:off x="7919527" y="4747532"/>
            <a:ext cx="1220391" cy="391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444" y="362769"/>
            <a:ext cx="3686621" cy="403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Objectifs du projet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29444" y="988888"/>
            <a:ext cx="4086969" cy="1189806"/>
          </a:xfrm>
          <a:prstGeom prst="roundRect">
            <a:avLst>
              <a:gd name="adj" fmla="val 4332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56915" y="1116360"/>
            <a:ext cx="368126" cy="368126"/>
          </a:xfrm>
          <a:prstGeom prst="roundRect">
            <a:avLst>
              <a:gd name="adj" fmla="val 15523023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118" y="1217563"/>
            <a:ext cx="165646" cy="1656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6915" y="1595661"/>
            <a:ext cx="1784226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Gestion des étudiants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56915" y="1864147"/>
            <a:ext cx="3832027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Profils, parcours et inscriptions centralisés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7587" y="988888"/>
            <a:ext cx="4086969" cy="1189806"/>
          </a:xfrm>
          <a:prstGeom prst="roundRect">
            <a:avLst>
              <a:gd name="adj" fmla="val 4332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755059" y="1116360"/>
            <a:ext cx="368126" cy="368126"/>
          </a:xfrm>
          <a:prstGeom prst="roundRect">
            <a:avLst>
              <a:gd name="adj" fmla="val 15523023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6262" y="1217563"/>
            <a:ext cx="165646" cy="16564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5059" y="1595661"/>
            <a:ext cx="1995636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Gestion des enseignants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755059" y="1864147"/>
            <a:ext cx="3832027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Attribution des cours et suivi des activités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29444" y="2289870"/>
            <a:ext cx="4086969" cy="1189806"/>
          </a:xfrm>
          <a:prstGeom prst="roundRect">
            <a:avLst>
              <a:gd name="adj" fmla="val 4332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556915" y="2417341"/>
            <a:ext cx="368126" cy="368126"/>
          </a:xfrm>
          <a:prstGeom prst="roundRect">
            <a:avLst>
              <a:gd name="adj" fmla="val 15523023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118" y="2518544"/>
            <a:ext cx="165646" cy="16564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6915" y="2896642"/>
            <a:ext cx="16147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Gestion des cours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56915" y="3165128"/>
            <a:ext cx="3832027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Création, édition et organisation des unités d'enseignement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7587" y="2289870"/>
            <a:ext cx="4086969" cy="1189806"/>
          </a:xfrm>
          <a:prstGeom prst="roundRect">
            <a:avLst>
              <a:gd name="adj" fmla="val 4332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4755059" y="2417341"/>
            <a:ext cx="368126" cy="368126"/>
          </a:xfrm>
          <a:prstGeom prst="roundRect">
            <a:avLst>
              <a:gd name="adj" fmla="val 15523023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6262" y="2518544"/>
            <a:ext cx="165646" cy="16564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5059" y="2896642"/>
            <a:ext cx="16147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Gestion des notes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755059" y="3165128"/>
            <a:ext cx="3832027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Saisie, consultation et publication des résultats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29444" y="3590851"/>
            <a:ext cx="4086969" cy="1189806"/>
          </a:xfrm>
          <a:prstGeom prst="roundRect">
            <a:avLst>
              <a:gd name="adj" fmla="val 4332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556915" y="3718322"/>
            <a:ext cx="368126" cy="368126"/>
          </a:xfrm>
          <a:prstGeom prst="roundRect">
            <a:avLst>
              <a:gd name="adj" fmla="val 15523023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8118" y="3819525"/>
            <a:ext cx="165646" cy="16564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6915" y="4197623"/>
            <a:ext cx="16147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Emploi du temps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56915" y="4466109"/>
            <a:ext cx="3832027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Planification visuelle et gestion des plannings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27587" y="3590851"/>
            <a:ext cx="4086969" cy="1189806"/>
          </a:xfrm>
          <a:prstGeom prst="roundRect">
            <a:avLst>
              <a:gd name="adj" fmla="val 4332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2"/>
          <p:cNvSpPr/>
          <p:nvPr/>
        </p:nvSpPr>
        <p:spPr>
          <a:xfrm>
            <a:off x="4755059" y="3718322"/>
            <a:ext cx="368126" cy="368126"/>
          </a:xfrm>
          <a:prstGeom prst="roundRect">
            <a:avLst>
              <a:gd name="adj" fmla="val 15523023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6262" y="3819525"/>
            <a:ext cx="165646" cy="16564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5059" y="4197623"/>
            <a:ext cx="185119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Espace administrateur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4755059" y="4466109"/>
            <a:ext cx="3832027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Supervision globale, gestion des comptes et des droits</a:t>
            </a:r>
            <a:endParaRPr lang="en-US" sz="9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FE4758-9E3D-3459-789B-F67F929F89BD}"/>
              </a:ext>
            </a:extLst>
          </p:cNvPr>
          <p:cNvSpPr/>
          <p:nvPr/>
        </p:nvSpPr>
        <p:spPr>
          <a:xfrm>
            <a:off x="7919527" y="4843250"/>
            <a:ext cx="1220391" cy="296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874737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Rôles utilisateurs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3943" y="1590973"/>
            <a:ext cx="2641774" cy="2677716"/>
          </a:xfrm>
          <a:prstGeom prst="roundRect">
            <a:avLst>
              <a:gd name="adj" fmla="val 2153"/>
            </a:avLst>
          </a:prstGeom>
          <a:solidFill>
            <a:srgbClr val="FFFAFA"/>
          </a:solidFill>
          <a:ln w="190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92993" y="1610023"/>
            <a:ext cx="2603674" cy="406226"/>
          </a:xfrm>
          <a:prstGeom prst="roundRect">
            <a:avLst>
              <a:gd name="adj" fmla="val 837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3292" y="1709142"/>
            <a:ext cx="203076" cy="2030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8352" y="215160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Étudiant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8352" y="2455441"/>
            <a:ext cx="2332955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S'inscrire aux cours disponibles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Consulter son emploi du temps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Accéder à ses notes et relevés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Gérer son profil personnel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51076" y="1590973"/>
            <a:ext cx="2641774" cy="2677716"/>
          </a:xfrm>
          <a:prstGeom prst="roundRect">
            <a:avLst>
              <a:gd name="adj" fmla="val 2153"/>
            </a:avLst>
          </a:prstGeom>
          <a:solidFill>
            <a:srgbClr val="FFFAFA"/>
          </a:solidFill>
          <a:ln w="190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270126" y="1610023"/>
            <a:ext cx="2603674" cy="406226"/>
          </a:xfrm>
          <a:prstGeom prst="roundRect">
            <a:avLst>
              <a:gd name="adj" fmla="val 837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0425" y="1709142"/>
            <a:ext cx="203076" cy="2030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5485" y="215160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Enseignant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05485" y="2455441"/>
            <a:ext cx="2332955" cy="100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Gérer ses cours et contenus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Saisir et publier les notes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Consulter les listes d'étudiants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Suivre les présences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28209" y="1590973"/>
            <a:ext cx="2641848" cy="2677716"/>
          </a:xfrm>
          <a:prstGeom prst="roundRect">
            <a:avLst>
              <a:gd name="adj" fmla="val 2153"/>
            </a:avLst>
          </a:prstGeom>
          <a:solidFill>
            <a:srgbClr val="FFFAFA"/>
          </a:solidFill>
          <a:ln w="190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6047259" y="1610023"/>
            <a:ext cx="2603748" cy="406226"/>
          </a:xfrm>
          <a:prstGeom prst="roundRect">
            <a:avLst>
              <a:gd name="adj" fmla="val 837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7558" y="1709142"/>
            <a:ext cx="203076" cy="2030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82618" y="215160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Administrateur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82618" y="2455441"/>
            <a:ext cx="2333030" cy="165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Créer et gérer les comptes utilisateurs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Attribuer les rôles et permissions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Superviser l'ensemble de la plateforme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Générer des rapports globaux</a:t>
            </a:r>
            <a:endParaRPr lang="en-US" sz="10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983DDA-A8A0-2A1D-ABF1-C36A3BE42826}"/>
              </a:ext>
            </a:extLst>
          </p:cNvPr>
          <p:cNvSpPr/>
          <p:nvPr/>
        </p:nvSpPr>
        <p:spPr>
          <a:xfrm>
            <a:off x="7919527" y="4747532"/>
            <a:ext cx="1220391" cy="391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635" y="359941"/>
            <a:ext cx="4755952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Fonctionnalités principales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635" y="956965"/>
            <a:ext cx="236934" cy="2369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4635" y="1323454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Authentification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4635" y="1580406"/>
            <a:ext cx="4092550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Connexion sécurisée avec gestion des rôles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6740" y="956965"/>
            <a:ext cx="236934" cy="2369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36740" y="1323454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Gestion étudiants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636740" y="1580406"/>
            <a:ext cx="409262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Inscriptions, profils et parcours académiques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635" y="1965424"/>
            <a:ext cx="236934" cy="2369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4635" y="2331913"/>
            <a:ext cx="1607046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Gestion enseignants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14635" y="2588865"/>
            <a:ext cx="4092550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Attribution des cours et suivi des activités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6740" y="1965424"/>
            <a:ext cx="236934" cy="2369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36740" y="2331913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Gestion cours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636740" y="2588865"/>
            <a:ext cx="409262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Création, édition et organisation des UE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4635" y="2973884"/>
            <a:ext cx="236934" cy="23693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14635" y="3340373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Inscriptions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14635" y="3597325"/>
            <a:ext cx="4092550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Processus d'inscription aux unités d'enseignement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6740" y="2973884"/>
            <a:ext cx="236934" cy="23693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36740" y="3340373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Gestion des notes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636740" y="3597325"/>
            <a:ext cx="409262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Saisie, consultation et publication des résultats</a:t>
            </a:r>
            <a:endParaRPr lang="en-US" sz="9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4635" y="3982343"/>
            <a:ext cx="236934" cy="23693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14635" y="4348832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Emploi du temps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414635" y="4605784"/>
            <a:ext cx="4092550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Planification visuelle et gestion des plannings</a:t>
            </a:r>
            <a:endParaRPr lang="en-US" sz="9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6740" y="3982343"/>
            <a:ext cx="236934" cy="23693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636740" y="4348832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4636740" y="4605784"/>
            <a:ext cx="409262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Vues personnalisées selon le profil utilisateur</a:t>
            </a:r>
            <a:endParaRPr lang="en-US" sz="9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CFF612-CAB0-0896-F1FF-7AF5346C41E0}"/>
              </a:ext>
            </a:extLst>
          </p:cNvPr>
          <p:cNvSpPr/>
          <p:nvPr/>
        </p:nvSpPr>
        <p:spPr>
          <a:xfrm>
            <a:off x="7919527" y="4747532"/>
            <a:ext cx="1220391" cy="391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82650"/>
            <a:ext cx="4607347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Wireframes principaux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198885"/>
            <a:ext cx="8196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Maquettes basse fidélité des interfaces clés de la plateforme. Chaque écran est conçu pour refléter les besoins spécifiques du rôle utilisateur concerné.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3943" y="1784598"/>
            <a:ext cx="2641774" cy="1481733"/>
          </a:xfrm>
          <a:prstGeom prst="roundRect">
            <a:avLst>
              <a:gd name="adj" fmla="val 3838"/>
            </a:avLst>
          </a:prstGeom>
          <a:solidFill>
            <a:srgbClr val="FFFAFA"/>
          </a:solidFill>
          <a:ln w="190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28352" y="1939007"/>
            <a:ext cx="182708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Dashboard Étudiant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8352" y="2313980"/>
            <a:ext cx="2332955" cy="575295"/>
          </a:xfrm>
          <a:prstGeom prst="roundRect">
            <a:avLst>
              <a:gd name="adj" fmla="val 9886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12" y="2517056"/>
            <a:ext cx="169218" cy="1353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8288" y="2483123"/>
            <a:ext cx="175766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📌 Insérer wireframe ici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51076" y="1784598"/>
            <a:ext cx="2641774" cy="1481733"/>
          </a:xfrm>
          <a:prstGeom prst="roundRect">
            <a:avLst>
              <a:gd name="adj" fmla="val 3838"/>
            </a:avLst>
          </a:prstGeom>
          <a:solidFill>
            <a:srgbClr val="FFFAFA"/>
          </a:solidFill>
          <a:ln w="190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405485" y="1939007"/>
            <a:ext cx="206045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Dashboard Enseignant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405485" y="2313980"/>
            <a:ext cx="2332955" cy="575295"/>
          </a:xfrm>
          <a:prstGeom prst="roundRect">
            <a:avLst>
              <a:gd name="adj" fmla="val 9886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844" y="2517056"/>
            <a:ext cx="169218" cy="1353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5421" y="2483123"/>
            <a:ext cx="175766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📌 Insérer wireframe ici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28209" y="1784598"/>
            <a:ext cx="2641848" cy="1481733"/>
          </a:xfrm>
          <a:prstGeom prst="roundRect">
            <a:avLst>
              <a:gd name="adj" fmla="val 3838"/>
            </a:avLst>
          </a:prstGeom>
          <a:solidFill>
            <a:srgbClr val="FFFAFA"/>
          </a:solidFill>
          <a:ln w="190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6182618" y="1939007"/>
            <a:ext cx="233303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Dashboard Administrateur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182618" y="2536627"/>
            <a:ext cx="2333030" cy="575295"/>
          </a:xfrm>
          <a:prstGeom prst="roundRect">
            <a:avLst>
              <a:gd name="adj" fmla="val 9886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977" y="2739703"/>
            <a:ext cx="169218" cy="13535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2554" y="2705770"/>
            <a:ext cx="175773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📌 Insérer wireframe ici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3943" y="3401690"/>
            <a:ext cx="4030340" cy="1259086"/>
          </a:xfrm>
          <a:prstGeom prst="roundRect">
            <a:avLst>
              <a:gd name="adj" fmla="val 4517"/>
            </a:avLst>
          </a:prstGeom>
          <a:solidFill>
            <a:srgbClr val="FFFAFA"/>
          </a:solidFill>
          <a:ln w="190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/>
          <p:nvPr/>
        </p:nvSpPr>
        <p:spPr>
          <a:xfrm>
            <a:off x="628352" y="355609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Page Cours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8352" y="3931072"/>
            <a:ext cx="3721522" cy="575295"/>
          </a:xfrm>
          <a:prstGeom prst="roundRect">
            <a:avLst>
              <a:gd name="adj" fmla="val 9886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12" y="4134148"/>
            <a:ext cx="169218" cy="13535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68288" y="4100215"/>
            <a:ext cx="314622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📌 Insérer wireframe ici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639642" y="3401690"/>
            <a:ext cx="4030414" cy="1259086"/>
          </a:xfrm>
          <a:prstGeom prst="roundRect">
            <a:avLst>
              <a:gd name="adj" fmla="val 4517"/>
            </a:avLst>
          </a:prstGeom>
          <a:solidFill>
            <a:srgbClr val="FFFAFA"/>
          </a:solidFill>
          <a:ln w="190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19"/>
          <p:cNvSpPr/>
          <p:nvPr/>
        </p:nvSpPr>
        <p:spPr>
          <a:xfrm>
            <a:off x="4794052" y="355609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Page Notes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794052" y="3931072"/>
            <a:ext cx="3721596" cy="575295"/>
          </a:xfrm>
          <a:prstGeom prst="roundRect">
            <a:avLst>
              <a:gd name="adj" fmla="val 9886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411" y="4134148"/>
            <a:ext cx="169218" cy="13535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33988" y="4100215"/>
            <a:ext cx="3146301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📌 Insérer wireframe ici</a:t>
            </a:r>
            <a:endParaRPr lang="en-US" sz="10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7EC68B-BA60-E07A-121E-504E6C05EB0C}"/>
              </a:ext>
            </a:extLst>
          </p:cNvPr>
          <p:cNvSpPr/>
          <p:nvPr/>
        </p:nvSpPr>
        <p:spPr>
          <a:xfrm>
            <a:off x="7919527" y="4747532"/>
            <a:ext cx="1220391" cy="391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444" y="385539"/>
            <a:ext cx="4064794" cy="403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Storyboard utilisateur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444" y="1056084"/>
            <a:ext cx="3992910" cy="56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 storyboard décrit les </a:t>
            </a:r>
            <a:r>
              <a:rPr lang="en-US" sz="9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parcours utilisateurs typiques</a:t>
            </a: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au sein de SmartCampus, depuis la connexion jusqu'aux actions métier principales. Il permet de valider les flux avant le développement.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726409" y="1081088"/>
            <a:ext cx="3992910" cy="677391"/>
          </a:xfrm>
          <a:prstGeom prst="roundRect">
            <a:avLst>
              <a:gd name="adj" fmla="val 7609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118" y="1260425"/>
            <a:ext cx="153367" cy="1227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5194" y="1222921"/>
            <a:ext cx="3471416" cy="374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📌 Insérer storyboard complet ici — diagramme de flux ou maquettes séquentielles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31" y="2012454"/>
            <a:ext cx="184026" cy="1840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8229" y="2008659"/>
            <a:ext cx="168108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Connexion sécurisée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31" y="2606799"/>
            <a:ext cx="184026" cy="1840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8229" y="2603004"/>
            <a:ext cx="273322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Accès au dashboard personnalisé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31" y="3201144"/>
            <a:ext cx="184026" cy="1840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8229" y="3197349"/>
            <a:ext cx="17703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Inscription à un cours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31" y="3795489"/>
            <a:ext cx="184026" cy="18402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8229" y="3791694"/>
            <a:ext cx="188059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Consultation des notes</a:t>
            </a:r>
            <a:endParaRPr lang="en-US" sz="12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31" y="4389834"/>
            <a:ext cx="184026" cy="18402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28229" y="4386039"/>
            <a:ext cx="251035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Gestion des cours (enseignant)</a:t>
            </a:r>
            <a:endParaRPr lang="en-US" sz="12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B9CC62-D9EE-8EF7-5267-990BAF95D161}"/>
              </a:ext>
            </a:extLst>
          </p:cNvPr>
          <p:cNvSpPr/>
          <p:nvPr/>
        </p:nvSpPr>
        <p:spPr>
          <a:xfrm>
            <a:off x="7919527" y="4747532"/>
            <a:ext cx="1220391" cy="391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33264"/>
            <a:ext cx="417589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Modèles de données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417141"/>
            <a:ext cx="343428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Modèle Entité-Association (MCD)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3943" y="1775147"/>
            <a:ext cx="3932858" cy="98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 MCD représente la structure conceptuelle des données de SmartCampus. Il identifie les entités du domaine et leurs relations avant toute implémentation technique.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Entités principales 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943" y="2885554"/>
            <a:ext cx="3932858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Utilisateur · Étudiant · Enseignant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Cours · Inscription · Notes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EmploiDuTemps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3943" y="3782616"/>
            <a:ext cx="3932858" cy="575295"/>
          </a:xfrm>
          <a:prstGeom prst="roundRect">
            <a:avLst>
              <a:gd name="adj" fmla="val 9886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02" y="3985692"/>
            <a:ext cx="169218" cy="1353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3879" y="3951759"/>
            <a:ext cx="381476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📌 Insérer MCD ici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41962" y="1417141"/>
            <a:ext cx="278576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Modèle Relationnel (MLD)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41962" y="1775147"/>
            <a:ext cx="393285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 MLD traduit le MCD en schéma relationnel exploitable par une base de données MySQL, avec clés primaires, étrangères et cardinalités.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41962" y="2577554"/>
            <a:ext cx="3932858" cy="575295"/>
          </a:xfrm>
          <a:prstGeom prst="roundRect">
            <a:avLst>
              <a:gd name="adj" fmla="val 9886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321" y="2780630"/>
            <a:ext cx="169218" cy="1353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81898" y="2746697"/>
            <a:ext cx="381476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📌 Insérer modèle relationnel ici</a:t>
            </a:r>
            <a:endParaRPr lang="en-US" sz="10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5497CD-C722-F867-7FB1-9DBA1D6BBEE3}"/>
              </a:ext>
            </a:extLst>
          </p:cNvPr>
          <p:cNvSpPr/>
          <p:nvPr/>
        </p:nvSpPr>
        <p:spPr>
          <a:xfrm>
            <a:off x="7919527" y="4747532"/>
            <a:ext cx="1220391" cy="391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1606" y="285676"/>
            <a:ext cx="3715420" cy="285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Architecture &amp; Technologies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606" y="682154"/>
            <a:ext cx="6300713" cy="28834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6894" y="1068039"/>
            <a:ext cx="1924242" cy="183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Base de données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036894" y="1301012"/>
            <a:ext cx="1536247" cy="228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MySQL pour persistance et requêtes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3428" y="2015804"/>
            <a:ext cx="1412356" cy="183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Backend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570628" y="2248777"/>
            <a:ext cx="1412356" cy="22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5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API et logique métier en PHP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036894" y="2505173"/>
            <a:ext cx="1924242" cy="183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Frontend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36894" y="2738146"/>
            <a:ext cx="1536247" cy="228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React, HTML, CSS, JS, Bootstrap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421606" y="3628132"/>
            <a:ext cx="6757913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Architecture </a:t>
            </a:r>
            <a:r>
              <a:rPr lang="en-US" sz="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3-tiers</a:t>
            </a: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: séparation claire entre présentation, logique métier et persistance des données.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421606" y="3860006"/>
            <a:ext cx="1880890" cy="14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Technologies envisagées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421606" y="4058171"/>
            <a:ext cx="3044503" cy="780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HTML / CSS / JS</a:t>
            </a: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Structure et interactivité</a:t>
            </a:r>
            <a:endParaRPr lang="en-US" sz="6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</a:t>
            </a: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Interface dynamique et modulaire</a:t>
            </a:r>
            <a:endParaRPr lang="en-US" sz="6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Bootstrap</a:t>
            </a: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Design responsive</a:t>
            </a:r>
            <a:endParaRPr lang="en-US" sz="6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PHP</a:t>
            </a: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Backend et logique serveur</a:t>
            </a:r>
            <a:endParaRPr lang="en-US" sz="6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MySQL</a:t>
            </a: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Base de données relationnelle</a:t>
            </a:r>
            <a:endParaRPr lang="en-US" sz="6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GitHub</a:t>
            </a: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Versioning et collaboration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682505" y="3860006"/>
            <a:ext cx="1807369" cy="14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Contraintes techniques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682505" y="4058171"/>
            <a:ext cx="3044503" cy="646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Séparation frontend / backend</a:t>
            </a:r>
            <a:endParaRPr lang="en-US" sz="6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Sécurité minimale (validation, authentification)</a:t>
            </a:r>
            <a:endParaRPr lang="en-US" sz="6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Gestion des rôles et permissions</a:t>
            </a:r>
            <a:endParaRPr lang="en-US" sz="6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Validation des données entrantes</a:t>
            </a:r>
            <a:endParaRPr lang="en-US" sz="6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Architecture maintenable et évolutive</a:t>
            </a:r>
            <a:endParaRPr lang="en-US" sz="6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56512-F618-1915-D994-C0204CA3CB6E}"/>
              </a:ext>
            </a:extLst>
          </p:cNvPr>
          <p:cNvSpPr/>
          <p:nvPr/>
        </p:nvSpPr>
        <p:spPr>
          <a:xfrm>
            <a:off x="7919527" y="4747532"/>
            <a:ext cx="1220391" cy="391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Office PowerPoint</Application>
  <PresentationFormat>Affichage à l'écran (16:9)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Calibri</vt:lpstr>
      <vt:lpstr>Sora Light</vt:lpstr>
      <vt:lpstr>Alexandria SemiBold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Tanguy Clément</dc:creator>
  <cp:lastModifiedBy>Tanguy Clément</cp:lastModifiedBy>
  <cp:revision>2</cp:revision>
  <dcterms:created xsi:type="dcterms:W3CDTF">2026-05-27T16:40:03Z</dcterms:created>
  <dcterms:modified xsi:type="dcterms:W3CDTF">2026-05-28T13:21:48Z</dcterms:modified>
</cp:coreProperties>
</file>